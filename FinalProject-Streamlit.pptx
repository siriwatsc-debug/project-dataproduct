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3" r:id="rId5"/>
    <p:sldId id="258" r:id="rId6"/>
    <p:sldId id="261" r:id="rId7"/>
    <p:sldId id="259" r:id="rId8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767"/>
  </p:normalViewPr>
  <p:slideViewPr>
    <p:cSldViewPr snapToGrid="0">
      <p:cViewPr varScale="1">
        <p:scale>
          <a:sx n="116" d="100"/>
          <a:sy n="116" d="100"/>
        </p:scale>
        <p:origin x="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FD864-D4FA-6769-7077-E26F36A28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EDE63-A373-217A-F9B2-22168CFFC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ADD8F-F5C0-1226-8375-10CC22ECD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9753-2958-694B-9E3E-B799AA8048DF}" type="datetimeFigureOut">
              <a:rPr lang="en-TH" smtClean="0"/>
              <a:t>5/11/2025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6D84F-5419-FC18-B8DD-090674788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AED6C-F8DA-F517-0E79-7CB4D6D4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9D3BC-E39F-F94A-8817-02A2388FE4C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117252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AD6AF-5A5F-A504-E838-2F045154B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8BBF9-E2E3-9F1E-129E-C0F81B35F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C1AFB-C8DC-8897-A97D-763ACC220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9753-2958-694B-9E3E-B799AA8048DF}" type="datetimeFigureOut">
              <a:rPr lang="en-TH" smtClean="0"/>
              <a:t>5/11/2025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6FE9-39E2-8621-6172-190999462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8B45E-47FC-C9D2-9220-479037D24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9D3BC-E39F-F94A-8817-02A2388FE4C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040321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0450D-6456-350D-4098-5FCD8A014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06C64-0E50-2961-6B3D-BF79A140C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30164-E5D9-AF5C-7FD9-C99085A99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9753-2958-694B-9E3E-B799AA8048DF}" type="datetimeFigureOut">
              <a:rPr lang="en-TH" smtClean="0"/>
              <a:t>5/11/2025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FE712-23F9-6B66-AADB-051007479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2279D-2E39-C723-7D7E-8AF90222E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9D3BC-E39F-F94A-8817-02A2388FE4C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102677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4D710-30AC-3363-6412-A6BF64D97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A9B50-0800-9EFD-231F-63E06D7BF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51546-5680-5B74-2275-84457B3EB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3C5C5-C715-6868-3428-41FD66EC4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9753-2958-694B-9E3E-B799AA8048DF}" type="datetimeFigureOut">
              <a:rPr lang="en-TH" smtClean="0"/>
              <a:t>5/11/2025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C5434-C1E9-39BC-EF7B-69CFE7535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2BB0F-6FA7-3DA1-ABD4-3376F2C46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9D3BC-E39F-F94A-8817-02A2388FE4C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40981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BA6B2-71BC-7EDE-BEB3-E1CED8E7B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1D644-0A1E-D28A-D553-D0C8330C3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0FC6-F313-89F4-91F6-6E89B4E6C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01CED1-1487-6615-ADC8-36FFDAC89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FEEB3A-E6B7-AC55-6674-16E09E0788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9AB704-7163-3A32-D649-93C037686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9753-2958-694B-9E3E-B799AA8048DF}" type="datetimeFigureOut">
              <a:rPr lang="en-TH" smtClean="0"/>
              <a:t>5/11/2025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2AD452-7B0D-9A17-7238-2AB678C1D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A2411B-5BE0-80F9-DFDC-E7F572C24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9D3BC-E39F-F94A-8817-02A2388FE4C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70956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9FFB5-EC14-9CAC-1D10-DB0259BA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1D9CA-358F-BB54-9258-24AD49E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9753-2958-694B-9E3E-B799AA8048DF}" type="datetimeFigureOut">
              <a:rPr lang="en-TH" smtClean="0"/>
              <a:t>5/11/2025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0FC778-172F-29B5-7B2E-A75242564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F58DA4-B54E-6DFF-0145-476A5C5E7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9D3BC-E39F-F94A-8817-02A2388FE4C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728201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E5A41D-14D4-0A54-886F-E6B5BB297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9753-2958-694B-9E3E-B799AA8048DF}" type="datetimeFigureOut">
              <a:rPr lang="en-TH" smtClean="0"/>
              <a:t>5/11/2025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FC0CBF-4B33-F392-00A2-12DA50805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EA83C-0834-826F-8EF2-8BFA5DB34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9D3BC-E39F-F94A-8817-02A2388FE4C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05942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D5677-A9A0-9FC4-49B0-BF114C75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2180A-F108-E61F-ADB4-4145BFCDF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C1874-93D3-DB20-38BE-FA5E2018D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980FF8-970F-3B87-A013-D5169F759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9753-2958-694B-9E3E-B799AA8048DF}" type="datetimeFigureOut">
              <a:rPr lang="en-TH" smtClean="0"/>
              <a:t>5/11/2025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3A31D-49F4-7141-796A-800A5D841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332AF-21B6-617F-D1E5-9B2430250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9D3BC-E39F-F94A-8817-02A2388FE4C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46145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EBA00-4804-746B-4725-417BED2BD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F28C1-04DA-DCF7-7F58-3F8CDD1CE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9FC44-E730-2AA9-F4E7-1E1BD7FC9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D1EC2-5C21-C3FB-72B9-9A0AAFA5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9753-2958-694B-9E3E-B799AA8048DF}" type="datetimeFigureOut">
              <a:rPr lang="en-TH" smtClean="0"/>
              <a:t>5/11/2025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E8F00-1D70-FB0F-825E-413D6BD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B7B42-6B34-A5BB-AD44-50F7014F8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9D3BC-E39F-F94A-8817-02A2388FE4C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56057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28FCD-D985-2ED8-2B60-9D292C7B2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130CAB-DFA7-C365-6470-452CD5411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A0BD2-84B9-A1C2-7B51-FDE249E0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9753-2958-694B-9E3E-B799AA8048DF}" type="datetimeFigureOut">
              <a:rPr lang="en-TH" smtClean="0"/>
              <a:t>5/11/2025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25291-FDBB-58B8-556E-3C0A72624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04413-7DE0-C7AF-2281-AD45F087F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9D3BC-E39F-F94A-8817-02A2388FE4C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860822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17A33D-27A8-1EC3-BE98-925F51BDEC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EFAA0-404E-5D88-2808-5E7552EF4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BE93E-1CDF-2EA1-3BCF-71998EF4D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9753-2958-694B-9E3E-B799AA8048DF}" type="datetimeFigureOut">
              <a:rPr lang="en-TH" smtClean="0"/>
              <a:t>5/11/2025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F6F70-0F3D-4F1C-2547-4208A41A0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15B40-33C6-2BC5-5D85-0CB839742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9D3BC-E39F-F94A-8817-02A2388FE4C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97236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F6C03D-96C2-E63B-7DC3-F59002B4F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7B6BE-6952-7092-C25D-189B00F56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4575C-CA66-92D1-D8F1-79E77208DA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29753-2958-694B-9E3E-B799AA8048DF}" type="datetimeFigureOut">
              <a:rPr lang="en-TH" smtClean="0"/>
              <a:t>5/11/2025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C8F29-2CA1-2652-0213-3244C08169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50B7F-5784-23C4-2CD0-74DC58734A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E9D3BC-E39F-F94A-8817-02A2388FE4C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352361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7BDB9-4344-C071-9B15-6F8E87601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31673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DADS5001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Smart Health Checker : </a:t>
            </a:r>
            <a:br>
              <a:rPr lang="en-US" dirty="0"/>
            </a:br>
            <a:r>
              <a:rPr lang="en-US" dirty="0"/>
              <a:t>Data-driven Wellness Dashboard with AI Risk Prediction</a:t>
            </a:r>
            <a:endParaRPr lang="en-TH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2629F4A-10B2-F394-F5CB-8916ED380A97}"/>
              </a:ext>
            </a:extLst>
          </p:cNvPr>
          <p:cNvSpPr txBox="1">
            <a:spLocks/>
          </p:cNvSpPr>
          <p:nvPr/>
        </p:nvSpPr>
        <p:spPr>
          <a:xfrm>
            <a:off x="1524000" y="5234580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b="1"/>
              <a:t>ระบบตรวจสุขภาพอัจฉริยะด้วยแดชบอร์ดสุขภาพเชิงข้อมูลและการทำนายความเสี่ยงด้วย </a:t>
            </a:r>
            <a:r>
              <a:rPr lang="en-US" b="1"/>
              <a:t>AI</a:t>
            </a:r>
            <a:br>
              <a:rPr lang="en-US"/>
            </a:br>
            <a:endParaRPr lang="en-TH" dirty="0"/>
          </a:p>
        </p:txBody>
      </p:sp>
    </p:spTree>
    <p:extLst>
      <p:ext uri="{BB962C8B-B14F-4D97-AF65-F5344CB8AC3E}">
        <p14:creationId xmlns:p14="http://schemas.microsoft.com/office/powerpoint/2010/main" val="276275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EEDAF-4B0E-5D7A-FCB7-A29A8AC46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Smart Health </a:t>
            </a:r>
            <a:r>
              <a:rPr lang="en-US" b="1" dirty="0">
                <a:highlight>
                  <a:srgbClr val="FFFF00"/>
                </a:highlight>
              </a:rPr>
              <a:t>checker</a:t>
            </a:r>
            <a:br>
              <a:rPr lang="en-US" dirty="0"/>
            </a:br>
            <a:endParaRPr lang="en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1EE1C-AB36-5343-CB37-FD765104D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TH" dirty="0">
                <a:cs typeface="+mj-cs"/>
              </a:rPr>
              <a:t>Issue :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th-TH" altLang="en-TH" b="1" dirty="0">
                <a:latin typeface="Arial" panose="020B0604020202020204" pitchFamily="34" charset="0"/>
                <a:cs typeface="+mj-cs"/>
              </a:rPr>
              <a:t>ขาดเครื่องมือ</a:t>
            </a:r>
            <a:r>
              <a:rPr lang="th-TH" altLang="en-TH" dirty="0">
                <a:latin typeface="Arial" panose="020B0604020202020204" pitchFamily="34" charset="0"/>
                <a:cs typeface="+mj-cs"/>
              </a:rPr>
              <a:t> แปลผลข้อมูลสุขภาพจากอุปกรณ์สวมใส่ให้เข้าใจง่าย</a:t>
            </a:r>
            <a:endParaRPr lang="en-US" altLang="en-TH" dirty="0">
              <a:latin typeface="Arial" panose="020B0604020202020204" pitchFamily="34" charset="0"/>
              <a:cs typeface="+mj-cs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th-TH" altLang="en-TH" b="1" dirty="0">
                <a:latin typeface="Arial" panose="020B0604020202020204" pitchFamily="34" charset="0"/>
                <a:cs typeface="+mj-cs"/>
              </a:rPr>
              <a:t>ไม่สามารถประเมินแนวโน้มความเสี่ยงสุขภาพ</a:t>
            </a:r>
            <a:r>
              <a:rPr lang="th-TH" altLang="en-TH" dirty="0">
                <a:latin typeface="Arial" panose="020B0604020202020204" pitchFamily="34" charset="0"/>
                <a:cs typeface="+mj-cs"/>
              </a:rPr>
              <a:t> ล่วงหน้าได้อย่างเป็นระบบ ทำให้ข้อมูลสุขภาพจำนวนมากที่เก็บไว้ไม่ถูกใช้ประโยชน์อย่างเต็มที่</a:t>
            </a:r>
            <a:endParaRPr lang="en-TH" altLang="en-TH" dirty="0">
              <a:latin typeface="Arial" panose="020B0604020202020204" pitchFamily="34" charset="0"/>
              <a:cs typeface="+mj-cs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th-TH" altLang="en-TH" b="1" dirty="0">
                <a:latin typeface="Arial" panose="020B0604020202020204" pitchFamily="34" charset="0"/>
                <a:cs typeface="+mj-cs"/>
              </a:rPr>
              <a:t>บุคคลทั่วไปไม่สามารถ</a:t>
            </a:r>
            <a:r>
              <a:rPr lang="th-TH" altLang="en-TH" dirty="0">
                <a:latin typeface="Arial" panose="020B0604020202020204" pitchFamily="34" charset="0"/>
                <a:cs typeface="+mj-cs"/>
              </a:rPr>
              <a:t> วางแผนการดูแลสุขภาพเชิงรุกและป้องกันโรค </a:t>
            </a:r>
            <a:r>
              <a:rPr lang="en-US" altLang="en-TH" dirty="0">
                <a:latin typeface="Arial" panose="020B0604020202020204" pitchFamily="34" charset="0"/>
                <a:cs typeface="+mj-cs"/>
              </a:rPr>
              <a:t>*</a:t>
            </a:r>
            <a:r>
              <a:rPr lang="en-TH" altLang="en-TH" dirty="0">
                <a:latin typeface="Arial" panose="020B0604020202020204" pitchFamily="34" charset="0"/>
                <a:cs typeface="+mj-cs"/>
              </a:rPr>
              <a:t>NCDs </a:t>
            </a:r>
            <a:r>
              <a:rPr lang="th-TH" altLang="en-TH" dirty="0">
                <a:latin typeface="Arial" panose="020B0604020202020204" pitchFamily="34" charset="0"/>
                <a:cs typeface="+mj-cs"/>
              </a:rPr>
              <a:t>ได้อย่างมีประสิทธิภาพ แม้จะมีการเปลี่ยนมาเน้นการดูแลสุขภาพเชิงป้องกัน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th-TH" altLang="en-TH" dirty="0">
              <a:latin typeface="Arial" panose="020B0604020202020204" pitchFamily="34" charset="0"/>
              <a:cs typeface="+mj-cs"/>
            </a:endParaRPr>
          </a:p>
          <a:p>
            <a:pPr marL="0" indent="0">
              <a:buNone/>
            </a:pPr>
            <a:r>
              <a:rPr lang="en-TH" dirty="0">
                <a:cs typeface="+mj-cs"/>
              </a:rPr>
              <a:t>Motivation :</a:t>
            </a:r>
          </a:p>
          <a:p>
            <a:pPr lvl="1"/>
            <a:r>
              <a:rPr lang="th-TH" dirty="0">
                <a:cs typeface="+mj-cs"/>
              </a:rPr>
              <a:t>เพื่อตอบรับกับแนวโน้มการดูแลสุขภาพเชิงป้องกัน (</a:t>
            </a:r>
            <a:r>
              <a:rPr lang="en-US" dirty="0">
                <a:cs typeface="+mj-cs"/>
              </a:rPr>
              <a:t>Preventive Healthcare) </a:t>
            </a:r>
            <a:r>
              <a:rPr lang="th-TH" dirty="0">
                <a:cs typeface="+mj-cs"/>
              </a:rPr>
              <a:t>และการเพิ่มขึ้นของข้อมูลสุขภาพดิจิทัล โครงการ </a:t>
            </a:r>
            <a:r>
              <a:rPr lang="en-US" dirty="0">
                <a:cs typeface="+mj-cs"/>
              </a:rPr>
              <a:t>Smart Health Checker </a:t>
            </a:r>
            <a:r>
              <a:rPr lang="th-TH" dirty="0">
                <a:cs typeface="+mj-cs"/>
              </a:rPr>
              <a:t>จึงถูกพัฒนาขึ้นเพื่อแก้ไขปัญหาการขาดเครื่องมือในการแปลผลและประเมินความเสี่ยงสุขภาพล่วงหน้าอย่างเป็นระบบ </a:t>
            </a:r>
          </a:p>
          <a:p>
            <a:pPr lvl="1"/>
            <a:r>
              <a:rPr lang="th-TH" dirty="0">
                <a:cs typeface="+mj-cs"/>
              </a:rPr>
              <a:t>ประยุกต์ใช้</a:t>
            </a:r>
            <a:r>
              <a:rPr lang="th-TH" dirty="0" err="1">
                <a:cs typeface="+mj-cs"/>
              </a:rPr>
              <a:t>แดช</a:t>
            </a:r>
            <a:r>
              <a:rPr lang="th-TH" dirty="0">
                <a:cs typeface="+mj-cs"/>
              </a:rPr>
              <a:t>บอร์ดอัจฉริยะและ </a:t>
            </a:r>
            <a:r>
              <a:rPr lang="en-US" dirty="0">
                <a:cs typeface="+mj-cs"/>
              </a:rPr>
              <a:t>AI </a:t>
            </a:r>
            <a:r>
              <a:rPr lang="th-TH" dirty="0">
                <a:cs typeface="+mj-cs"/>
              </a:rPr>
              <a:t>ทำนายความเสี่ยงโรค </a:t>
            </a:r>
            <a:r>
              <a:rPr lang="en-US" dirty="0">
                <a:cs typeface="+mj-cs"/>
              </a:rPr>
              <a:t>NCDs </a:t>
            </a:r>
            <a:r>
              <a:rPr lang="th-TH" dirty="0">
                <a:cs typeface="+mj-cs"/>
              </a:rPr>
              <a:t>เพื่อให้บุคคลทั่วไปสามารถดูแลสุขภาพเชิงรุกได้อย่างมีประสิทธิภาพ</a:t>
            </a:r>
            <a:endParaRPr lang="en-US" dirty="0">
              <a:cs typeface="+mj-cs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TH" dirty="0">
              <a:latin typeface="Arial" panose="020B0604020202020204" pitchFamily="34" charset="0"/>
              <a:cs typeface="+mj-c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TH" dirty="0">
                <a:latin typeface="Arial" panose="020B0604020202020204" pitchFamily="34" charset="0"/>
                <a:cs typeface="+mj-cs"/>
              </a:rPr>
              <a:t>Note : *</a:t>
            </a:r>
            <a:r>
              <a:rPr lang="th-TH" altLang="en-TH" dirty="0">
                <a:latin typeface="Arial" panose="020B0604020202020204" pitchFamily="34" charset="0"/>
                <a:cs typeface="+mj-cs"/>
              </a:rPr>
              <a:t>โรคไม่ติดต่อเรื้อรัง (</a:t>
            </a:r>
            <a:r>
              <a:rPr lang="en-US" altLang="en-TH" dirty="0">
                <a:latin typeface="Arial" panose="020B0604020202020204" pitchFamily="34" charset="0"/>
                <a:cs typeface="+mj-cs"/>
              </a:rPr>
              <a:t>Non-Communicable Diseases: NCDs)</a:t>
            </a:r>
            <a:endParaRPr lang="en-TH" altLang="en-TH" dirty="0">
              <a:latin typeface="Arial" panose="020B0604020202020204" pitchFamily="34" charset="0"/>
              <a:cs typeface="+mj-cs"/>
            </a:endParaRPr>
          </a:p>
          <a:p>
            <a:endParaRPr lang="en-TH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55593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54198-9F07-2E02-CD48-B94F86289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2EF8-F34C-C611-855B-01CC68FF5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Smart Health </a:t>
            </a:r>
            <a:r>
              <a:rPr lang="en-US" b="1" dirty="0">
                <a:highlight>
                  <a:srgbClr val="FFFF00"/>
                </a:highlight>
              </a:rPr>
              <a:t>checker</a:t>
            </a:r>
            <a:br>
              <a:rPr lang="en-US" dirty="0"/>
            </a:br>
            <a:endParaRPr lang="en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331CF-517D-983B-4154-636041653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TH" dirty="0">
                <a:cs typeface="+mj-cs"/>
              </a:rPr>
              <a:t>Objective :</a:t>
            </a:r>
          </a:p>
          <a:p>
            <a:r>
              <a:rPr lang="th-TH" sz="2400" dirty="0">
                <a:cs typeface="+mj-cs"/>
              </a:rPr>
              <a:t>เพื่อพัฒนา</a:t>
            </a:r>
            <a:r>
              <a:rPr lang="th-TH" sz="2400" dirty="0" err="1">
                <a:cs typeface="+mj-cs"/>
              </a:rPr>
              <a:t>แดช</a:t>
            </a:r>
            <a:r>
              <a:rPr lang="th-TH" sz="2400" dirty="0">
                <a:cs typeface="+mj-cs"/>
              </a:rPr>
              <a:t>บอร์ดสุขภาพอัจฉริยะที่สามารถรวบรวม วิเคราะห์ และแสดงข้อมูลสุขภาพของผู้ใช้ในรูปแบบที่เข้าใจง่าย</a:t>
            </a:r>
          </a:p>
          <a:p>
            <a:r>
              <a:rPr lang="th-TH" sz="2400" dirty="0">
                <a:cs typeface="+mj-cs"/>
              </a:rPr>
              <a:t>เพื่อสร้างและทดสอบโมเดล </a:t>
            </a:r>
            <a:r>
              <a:rPr lang="en-US" sz="2400" dirty="0">
                <a:cs typeface="+mj-cs"/>
              </a:rPr>
              <a:t>Machine Learning </a:t>
            </a:r>
            <a:r>
              <a:rPr lang="th-TH" sz="2400" dirty="0">
                <a:cs typeface="+mj-cs"/>
              </a:rPr>
              <a:t>สำหรับ</a:t>
            </a:r>
            <a:r>
              <a:rPr lang="th-TH" sz="2400" dirty="0" err="1">
                <a:cs typeface="+mj-cs"/>
              </a:rPr>
              <a:t>การทำ</a:t>
            </a:r>
            <a:r>
              <a:rPr lang="th-TH" sz="2400" dirty="0">
                <a:cs typeface="+mj-cs"/>
              </a:rPr>
              <a:t>นายความเสี่ยงสุขภาพจากข้อมูลพื้นฐานและผลตรวจทางห้องปฏิบัติการ</a:t>
            </a:r>
          </a:p>
          <a:p>
            <a:r>
              <a:rPr lang="th-TH" sz="2400" dirty="0">
                <a:cs typeface="+mj-cs"/>
              </a:rPr>
              <a:t>เพื่อประยุกต์ใช้เทคโนโลยี </a:t>
            </a:r>
            <a:r>
              <a:rPr lang="en-US" sz="2400" dirty="0">
                <a:highlight>
                  <a:srgbClr val="FFFF00"/>
                </a:highlight>
                <a:cs typeface="+mj-cs"/>
              </a:rPr>
              <a:t>AI/NLP </a:t>
            </a:r>
            <a:r>
              <a:rPr lang="th-TH" sz="2400" dirty="0">
                <a:cs typeface="+mj-cs"/>
              </a:rPr>
              <a:t>ในการสรุปผลและให้คำแนะนำสุขภาพเฉพาะบุคคล</a:t>
            </a:r>
          </a:p>
          <a:p>
            <a:r>
              <a:rPr lang="th-TH" sz="2400" dirty="0">
                <a:cs typeface="+mj-cs"/>
              </a:rPr>
              <a:t>เพื่อเป็นต้นแบบของระบบติดตามสุขภาพเชิงรุกที่สามารถขยายต่อยอดไปสู่การใช้งานจริงในอนาคต</a:t>
            </a:r>
            <a:endParaRPr lang="en-TH" sz="24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41275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1A439-D926-4EBB-E7FB-D63364536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CBB97-71F6-3087-4AD5-352CA0787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Smart Health </a:t>
            </a:r>
            <a:r>
              <a:rPr lang="en-US" b="1" dirty="0">
                <a:highlight>
                  <a:srgbClr val="FFFF00"/>
                </a:highlight>
              </a:rPr>
              <a:t>checker</a:t>
            </a:r>
            <a:br>
              <a:rPr lang="en-US" dirty="0"/>
            </a:br>
            <a:endParaRPr lang="en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ED94-8E59-243F-7172-0A1E4AEA4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Input data :</a:t>
            </a:r>
          </a:p>
          <a:p>
            <a:pPr lvl="1"/>
            <a:r>
              <a:rPr lang="en-US" dirty="0"/>
              <a:t>UX/UI : Individual input  base on minimum requirement x13 features</a:t>
            </a:r>
          </a:p>
          <a:p>
            <a:pPr lvl="1"/>
            <a:r>
              <a:rPr lang="en-US" dirty="0"/>
              <a:t>Load file (excel/pdf/picture): Patient history</a:t>
            </a:r>
          </a:p>
          <a:p>
            <a:pPr lvl="2"/>
            <a:r>
              <a:rPr lang="en-US" dirty="0"/>
              <a:t>Autofill by Python/AI</a:t>
            </a:r>
          </a:p>
          <a:p>
            <a:pPr marL="0" indent="0">
              <a:buNone/>
            </a:pPr>
            <a:r>
              <a:rPr lang="en-US" b="1" dirty="0"/>
              <a:t>Solution (Methodology) :</a:t>
            </a:r>
          </a:p>
          <a:p>
            <a:pPr lvl="1"/>
            <a:r>
              <a:rPr lang="en-US" dirty="0"/>
              <a:t>Traditional</a:t>
            </a:r>
          </a:p>
          <a:p>
            <a:pPr lvl="1"/>
            <a:r>
              <a:rPr lang="en-US" dirty="0"/>
              <a:t>AI add-on</a:t>
            </a:r>
          </a:p>
          <a:p>
            <a:pPr marL="0" indent="0">
              <a:buNone/>
            </a:pPr>
            <a:r>
              <a:rPr lang="en-US" b="1" dirty="0"/>
              <a:t>Target result :</a:t>
            </a:r>
          </a:p>
          <a:p>
            <a:pPr lvl="1"/>
            <a:r>
              <a:rPr lang="en-US" dirty="0"/>
              <a:t>Identify </a:t>
            </a:r>
            <a:r>
              <a:rPr lang="en-US" b="1" dirty="0">
                <a:solidFill>
                  <a:srgbClr val="0070C0"/>
                </a:solidFill>
              </a:rPr>
              <a:t>Potential</a:t>
            </a:r>
            <a:r>
              <a:rPr lang="en-US" dirty="0"/>
              <a:t> : NCD as personal</a:t>
            </a:r>
          </a:p>
          <a:p>
            <a:pPr lvl="1"/>
            <a:r>
              <a:rPr lang="en-US" dirty="0"/>
              <a:t>Risk level :  High / Mid / Low</a:t>
            </a:r>
          </a:p>
          <a:p>
            <a:pPr lvl="1"/>
            <a:r>
              <a:rPr lang="en-US" dirty="0"/>
              <a:t>Recommendation : Meet doctor / Self behavior </a:t>
            </a:r>
          </a:p>
          <a:p>
            <a:pPr marL="0" indent="0">
              <a:buNone/>
            </a:pPr>
            <a:r>
              <a:rPr lang="en-US" b="1" dirty="0"/>
              <a:t>Visualization (</a:t>
            </a:r>
            <a:r>
              <a:rPr lang="en-US" b="1" dirty="0" err="1"/>
              <a:t>Streamlit</a:t>
            </a:r>
            <a:r>
              <a:rPr lang="en-US" b="1" dirty="0"/>
              <a:t> + </a:t>
            </a:r>
            <a:r>
              <a:rPr lang="en-US" b="1" dirty="0" err="1"/>
              <a:t>Plotly</a:t>
            </a:r>
            <a:r>
              <a:rPr lang="en-US" b="1" dirty="0"/>
              <a:t> + …) :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Challenge : </a:t>
            </a:r>
            <a:r>
              <a:rPr lang="en-US" dirty="0">
                <a:highlight>
                  <a:srgbClr val="00FF00"/>
                </a:highlight>
              </a:rPr>
              <a:t>What Strong point / Uniqueness of the solution is our tool ?   </a:t>
            </a:r>
            <a:r>
              <a:rPr lang="en-US" dirty="0">
                <a:sym typeface="Wingdings" pitchFamily="2" charset="2"/>
              </a:rPr>
              <a:t> Sell point</a:t>
            </a: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TH" sz="24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45413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B7F5-DF0C-FC0A-F26F-5BF100EB7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Team members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595440-C7FA-70B5-EBB6-161AAC2FA7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0919" y="1690688"/>
            <a:ext cx="5761193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TH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Angsana New" panose="02020603050405020304" pitchFamily="18" charset="-34"/>
              </a:rPr>
              <a:t>1.</a:t>
            </a:r>
            <a:r>
              <a:rPr kumimoji="0" lang="th-TH" altLang="en-TH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Angsana New" panose="02020603050405020304" pitchFamily="18" charset="-34"/>
              </a:rPr>
              <a:t>ณัฐรวิภาดา </a:t>
            </a:r>
            <a:r>
              <a:rPr kumimoji="0" lang="th-TH" altLang="en-TH" i="0" u="none" strike="noStrike" cap="none" normalizeH="0" baseline="0" dirty="0" err="1">
                <a:ln>
                  <a:noFill/>
                </a:ln>
                <a:effectLst/>
                <a:latin typeface="Segoe UI" panose="020B0502040204020203" pitchFamily="34" charset="0"/>
                <a:cs typeface="Angsana New" panose="02020603050405020304" pitchFamily="18" charset="-34"/>
              </a:rPr>
              <a:t>จิรว</a:t>
            </a:r>
            <a:r>
              <a:rPr kumimoji="0" lang="th-TH" altLang="en-TH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Angsana New" panose="02020603050405020304" pitchFamily="18" charset="-34"/>
              </a:rPr>
              <a:t>รัตน์ชัย</a:t>
            </a:r>
            <a:r>
              <a:rPr kumimoji="0" lang="en-US" altLang="en-TH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Angsana New" panose="02020603050405020304" pitchFamily="18" charset="-34"/>
              </a:rPr>
              <a:t> 		6720422004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TH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Angsana New" panose="02020603050405020304" pitchFamily="18" charset="-34"/>
              </a:rPr>
              <a:t>2.</a:t>
            </a:r>
            <a:r>
              <a:rPr kumimoji="0" lang="th-TH" altLang="en-TH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Angsana New" panose="02020603050405020304" pitchFamily="18" charset="-34"/>
              </a:rPr>
              <a:t>ศิริวัฒน์ คาระ</a:t>
            </a:r>
            <a:r>
              <a:rPr kumimoji="0" lang="th-TH" altLang="en-TH" i="0" u="none" strike="noStrike" cap="none" normalizeH="0" baseline="0" dirty="0" err="1">
                <a:ln>
                  <a:noFill/>
                </a:ln>
                <a:effectLst/>
                <a:latin typeface="Segoe UI" panose="020B0502040204020203" pitchFamily="34" charset="0"/>
                <a:cs typeface="Angsana New" panose="02020603050405020304" pitchFamily="18" charset="-34"/>
              </a:rPr>
              <a:t>วุคห์</a:t>
            </a:r>
            <a:r>
              <a:rPr kumimoji="0" lang="en-US" altLang="en-TH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Angsana New" panose="02020603050405020304" pitchFamily="18" charset="-34"/>
              </a:rPr>
              <a:t> 		6720422017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TH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Angsana New" panose="02020603050405020304" pitchFamily="18" charset="-34"/>
              </a:rPr>
              <a:t>3.</a:t>
            </a:r>
            <a:r>
              <a:rPr kumimoji="0" lang="th-TH" altLang="en-TH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Angsana New" panose="02020603050405020304" pitchFamily="18" charset="-34"/>
              </a:rPr>
              <a:t>จรรยพร ไหลกู</a:t>
            </a:r>
            <a:r>
              <a:rPr kumimoji="0" lang="th-TH" altLang="en-TH" i="0" u="none" strike="noStrike" cap="none" normalizeH="0" baseline="0" dirty="0" err="1">
                <a:ln>
                  <a:noFill/>
                </a:ln>
                <a:effectLst/>
                <a:latin typeface="Segoe UI" panose="020B0502040204020203" pitchFamily="34" charset="0"/>
                <a:cs typeface="Angsana New" panose="02020603050405020304" pitchFamily="18" charset="-34"/>
              </a:rPr>
              <a:t>ล</a:t>
            </a:r>
            <a:r>
              <a:rPr lang="en-US" altLang="en-TH" dirty="0">
                <a:latin typeface="Segoe UI" panose="020B0502040204020203" pitchFamily="34" charset="0"/>
                <a:cs typeface="Angsana New" panose="02020603050405020304" pitchFamily="18" charset="-34"/>
              </a:rPr>
              <a:t> 		6720422022</a:t>
            </a:r>
            <a:endParaRPr kumimoji="0" lang="en-TH" altLang="en-TH" i="0" u="none" strike="noStrike" cap="none" normalizeH="0" baseline="0" dirty="0">
              <a:ln>
                <a:noFill/>
              </a:ln>
              <a:effectLst/>
              <a:latin typeface="Segoe UI" panose="020B0502040204020203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TH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Angsana New" panose="02020603050405020304" pitchFamily="18" charset="-34"/>
              </a:rPr>
              <a:t>4.</a:t>
            </a:r>
            <a:r>
              <a:rPr kumimoji="0" lang="th-TH" altLang="en-TH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Angsana New" panose="02020603050405020304" pitchFamily="18" charset="-34"/>
              </a:rPr>
              <a:t>นพวัฒน์ โชคสุนทรเลิศ</a:t>
            </a:r>
            <a:r>
              <a:rPr lang="en-TH" altLang="en-TH" dirty="0">
                <a:latin typeface="Segoe UI" panose="020B0502040204020203" pitchFamily="34" charset="0"/>
                <a:cs typeface="Angsana New" panose="02020603050405020304" pitchFamily="18" charset="-34"/>
              </a:rPr>
              <a:t>  		</a:t>
            </a:r>
            <a:r>
              <a:rPr lang="en-US" altLang="en-TH" dirty="0">
                <a:latin typeface="Segoe UI" panose="020B0502040204020203" pitchFamily="34" charset="0"/>
                <a:cs typeface="Angsana New" panose="02020603050405020304" pitchFamily="18" charset="-34"/>
              </a:rPr>
              <a:t>6720422030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TH" dirty="0">
                <a:latin typeface="Segoe UI" panose="020B0502040204020203" pitchFamily="34" charset="0"/>
                <a:cs typeface="Angsana New" panose="02020603050405020304" pitchFamily="18" charset="-34"/>
              </a:rPr>
              <a:t>5.</a:t>
            </a:r>
            <a:r>
              <a:rPr kumimoji="0" lang="th-TH" altLang="en-TH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Angsana New" panose="02020603050405020304" pitchFamily="18" charset="-34"/>
              </a:rPr>
              <a:t>สโรช</a:t>
            </a:r>
            <a:r>
              <a:rPr kumimoji="0" lang="th-TH" altLang="en-TH" i="0" u="none" strike="noStrike" cap="none" normalizeH="0" baseline="0" dirty="0" err="1">
                <a:ln>
                  <a:noFill/>
                </a:ln>
                <a:effectLst/>
                <a:latin typeface="Segoe UI" panose="020B0502040204020203" pitchFamily="34" charset="0"/>
                <a:cs typeface="Angsana New" panose="02020603050405020304" pitchFamily="18" charset="-34"/>
              </a:rPr>
              <a:t>า</a:t>
            </a:r>
            <a:r>
              <a:rPr kumimoji="0" lang="th-TH" altLang="en-TH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Angsana New" panose="02020603050405020304" pitchFamily="18" charset="-34"/>
              </a:rPr>
              <a:t> เคนเวียง</a:t>
            </a:r>
            <a:r>
              <a:rPr kumimoji="0" lang="en-US" altLang="en-TH" i="0" u="none" strike="noStrike" cap="none" normalizeH="0" baseline="0" dirty="0">
                <a:ln>
                  <a:noFill/>
                </a:ln>
                <a:effectLst/>
                <a:latin typeface="Segoe UI" panose="020B0502040204020203" pitchFamily="34" charset="0"/>
                <a:cs typeface="Angsana New" panose="02020603050405020304" pitchFamily="18" charset="-34"/>
              </a:rPr>
              <a:t> 		6720422031</a:t>
            </a:r>
            <a:endParaRPr kumimoji="0" lang="en-TH" altLang="en-TH" i="0" u="none" strike="noStrike" cap="none" normalizeH="0" baseline="0" dirty="0">
              <a:ln>
                <a:noFill/>
              </a:ln>
              <a:effectLst/>
              <a:latin typeface="Segoe UI" panose="020B0502040204020203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TH" altLang="en-TH" b="1" i="0" u="none" strike="noStrike" cap="none" normalizeH="0" baseline="0" dirty="0">
              <a:ln>
                <a:noFill/>
              </a:ln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E92FCF8-F115-84D5-C366-B3DAB3936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h-TH" altLang="en-TH" sz="18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502040204020203" pitchFamily="34" charset="0"/>
                <a:cs typeface="Angsana New" panose="02020603050405020304" pitchFamily="18" charset="-34"/>
              </a:rPr>
              <a:t>สโรชา เคนเวียง</a:t>
            </a:r>
            <a:endParaRPr kumimoji="0" lang="en-TH" altLang="en-TH" sz="18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082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929E6B-D57B-0503-8563-A11146C8731C}"/>
              </a:ext>
            </a:extLst>
          </p:cNvPr>
          <p:cNvSpPr txBox="1"/>
          <p:nvPr/>
        </p:nvSpPr>
        <p:spPr>
          <a:xfrm>
            <a:off x="5072322" y="3105834"/>
            <a:ext cx="2047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H" sz="3600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528405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D6C6D-566D-147E-0F26-4DA4C45B9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: Drafted</a:t>
            </a:r>
            <a:endParaRPr lang="en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0568B-B1E6-E240-E63F-8F1B3FC5C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Presentation :</a:t>
            </a:r>
          </a:p>
          <a:p>
            <a:r>
              <a:rPr lang="en-US" dirty="0"/>
              <a:t>Title</a:t>
            </a:r>
          </a:p>
          <a:p>
            <a:r>
              <a:rPr lang="en-US" dirty="0"/>
              <a:t>Issues and motivation</a:t>
            </a:r>
          </a:p>
          <a:p>
            <a:r>
              <a:rPr lang="en-US" dirty="0"/>
              <a:t>Objective</a:t>
            </a:r>
          </a:p>
          <a:p>
            <a:r>
              <a:rPr lang="en-US" dirty="0"/>
              <a:t>Solution (Methodology)</a:t>
            </a:r>
          </a:p>
          <a:p>
            <a:pPr lvl="1"/>
            <a:r>
              <a:rPr lang="en-US" dirty="0"/>
              <a:t>Traditional</a:t>
            </a:r>
          </a:p>
          <a:p>
            <a:pPr lvl="1"/>
            <a:r>
              <a:rPr lang="en-US" dirty="0"/>
              <a:t>AI add-on</a:t>
            </a:r>
          </a:p>
          <a:p>
            <a:r>
              <a:rPr lang="en-US" dirty="0"/>
              <a:t>Visualization (</a:t>
            </a:r>
            <a:r>
              <a:rPr lang="en-US" dirty="0" err="1"/>
              <a:t>Streamlit</a:t>
            </a:r>
            <a:r>
              <a:rPr lang="en-US" dirty="0"/>
              <a:t> + </a:t>
            </a:r>
            <a:r>
              <a:rPr lang="en-US" dirty="0" err="1"/>
              <a:t>Plotly</a:t>
            </a:r>
            <a:r>
              <a:rPr lang="en-US" dirty="0"/>
              <a:t> + …)</a:t>
            </a:r>
          </a:p>
          <a:p>
            <a:r>
              <a:rPr lang="en-US" dirty="0"/>
              <a:t>Submit via </a:t>
            </a:r>
            <a:r>
              <a:rPr lang="en-US" dirty="0" err="1"/>
              <a:t>Github</a:t>
            </a:r>
            <a:endParaRPr lang="en-US" dirty="0"/>
          </a:p>
          <a:p>
            <a:endParaRPr lang="en-TH" dirty="0"/>
          </a:p>
        </p:txBody>
      </p:sp>
    </p:spTree>
    <p:extLst>
      <p:ext uri="{BB962C8B-B14F-4D97-AF65-F5344CB8AC3E}">
        <p14:creationId xmlns:p14="http://schemas.microsoft.com/office/powerpoint/2010/main" val="3890488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448</Words>
  <Application>Microsoft Macintosh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Segoe UI</vt:lpstr>
      <vt:lpstr>Wingdings</vt:lpstr>
      <vt:lpstr>Office Theme</vt:lpstr>
      <vt:lpstr>DADS5001  Smart Health Checker :  Data-driven Wellness Dashboard with AI Risk Prediction</vt:lpstr>
      <vt:lpstr>Smart Health checker </vt:lpstr>
      <vt:lpstr>Smart Health checker </vt:lpstr>
      <vt:lpstr>Smart Health checker </vt:lpstr>
      <vt:lpstr>Team members</vt:lpstr>
      <vt:lpstr>PowerPoint Presentation</vt:lpstr>
      <vt:lpstr>Final Project : Drafted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ศิริวัฒน์ คาระวุคห์</dc:creator>
  <cp:lastModifiedBy>ศิริวัฒน์ คาระวุคห์</cp:lastModifiedBy>
  <cp:revision>1</cp:revision>
  <dcterms:created xsi:type="dcterms:W3CDTF">2025-11-05T14:57:04Z</dcterms:created>
  <dcterms:modified xsi:type="dcterms:W3CDTF">2025-11-05T15:47:39Z</dcterms:modified>
</cp:coreProperties>
</file>